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603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457200"/>
            <a:ext cx="5638648" cy="594360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095848" y="457200"/>
            <a:ext cx="5638648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33008" y="56692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3320" y="56692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53632" y="56692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5848" y="457200"/>
            <a:ext cx="563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53048" y="1097280"/>
            <a:ext cx="4724248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A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r>
              <a:rPr lang="en-US" sz="13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mainn.py</a:t>
            </a:r>
            <a:r>
              <a:rPr lang="en-US" sz="13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3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orchestrator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style_transfer.py</a:t>
            </a:r>
            <a:r>
              <a:rPr lang="en-US" sz="13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3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painting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color_transfer()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texture_blend()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painterly_effect()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stylize()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temporal_consistency.py</a:t>
            </a:r>
            <a:r>
              <a:rPr lang="en-US" sz="13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smoothing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optical_flow()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warp()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TemporalSmoother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starry_night.jpg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566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· CODE WALKTHROUGH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164592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</a:t>
            </a:r>
            <a:endParaRPr lang="en-US" sz="6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r>
              <a:rPr lang="en-US" sz="6400" b="1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Code.</a:t>
            </a:r>
            <a:endParaRPr lang="en-US" sz="6400" dirty="0"/>
          </a:p>
        </p:txBody>
      </p:sp>
      <p:sp>
        <p:nvSpPr>
          <p:cNvPr id="12" name="Shape 9"/>
          <p:cNvSpPr/>
          <p:nvPr/>
        </p:nvSpPr>
        <p:spPr>
          <a:xfrm>
            <a:off x="640080" y="4526280"/>
            <a:ext cx="914400" cy="36576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7091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Python files. One painting pipeline. A function-by-function walkthrough of how it all fits together.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6217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100" dirty="0"/>
          </a:p>
          <a:p>
            <a:pPr marL="0" indent="0">
              <a:buNone/>
            </a:pPr>
            <a:r>
              <a:rPr lang="en-US" sz="11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files, one pipeline.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 ·  Neural Style Transfer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splits cleanly into three modules. One handles the painting math, one handles motion between frames, and one ties them together with a CLI.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09848" y="2606040"/>
            <a:ext cx="4572000" cy="1188720"/>
          </a:xfrm>
          <a:prstGeom prst="rect">
            <a:avLst/>
          </a:prstGeom>
          <a:solidFill>
            <a:srgbClr val="1E2742"/>
          </a:solidFill>
          <a:ln w="19050">
            <a:solidFill>
              <a:srgbClr val="F4A938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168" y="292608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24248" y="2788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mainn.py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24248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 ·  argparse + dispatch + main loops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24248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&amp; calls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648" y="4114800"/>
            <a:ext cx="274320" cy="27432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4728" y="411480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20928" y="4434840"/>
            <a:ext cx="4937760" cy="169164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020928" y="4434840"/>
            <a:ext cx="73152" cy="169164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528" y="461772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52448" y="4572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style_transfer.py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752448" y="4937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painting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249528" y="5303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stylize()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color_transfer()  ·  texture_blend()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painterly_effect()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233008" y="4434840"/>
            <a:ext cx="4937760" cy="169164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233008" y="4434840"/>
            <a:ext cx="73152" cy="169164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608" y="46177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64528" y="4572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temporal_consistency.py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964528" y="4937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smoothing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461608" y="5303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TemporalSmoother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optical_flow()  ·  warp()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apply()  ·  reset()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style_transfer.py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371600" cy="4572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20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single frame becomes a painting. </a:t>
            </a:r>
            <a:r>
              <a:rPr lang="en-US" sz="2200" i="1" dirty="0">
                <a:solidFill>
                  <a:srgbClr val="8A93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classical operations stacked: color transfer, texture blend, painterly pass.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solidFill>
            <a:srgbClr val="141A2E"/>
          </a:solidFill>
          <a:ln w="6350">
            <a:solidFill>
              <a:srgbClr val="24305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692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5577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lines  ·  5 functions  ·  numpy + OpenCV only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learning. No GPU required. Pure classical computer vision.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1 · style_transfer.py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color_transfer() — moves the palette.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 ·  Neural Style Transfer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Reinhard (2001) color transfer in LAB space. For each channel, normalize the content to zero-mean unit-variance, then re-scale into the style's statistics.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LAB?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separates luminance (L) from color (a, b). Moving means/stds per-channel doesn't bleed lightness into hue or vice versa — unlike RGB.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4846320" cy="868680"/>
          </a:xfrm>
          <a:prstGeom prst="rect">
            <a:avLst/>
          </a:prstGeom>
          <a:solidFill>
            <a:srgbClr val="141A2E"/>
          </a:solidFill>
          <a:ln w="9525">
            <a:solidFill>
              <a:srgbClr val="F4A9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303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5577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c'ᵢ = (cᵢ − μ_c) · (σ_s / σ_c) + μ_s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52160" y="1828800"/>
            <a:ext cx="5760720" cy="402336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1828800"/>
            <a:ext cx="576072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93852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193852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9944" y="193852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828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style_transfer.py · color_transfer()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286000"/>
            <a:ext cx="5212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color_transfer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(content, style):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BGR → LAB, work in float32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cv2.cvtColor(content, cv2.COLOR_BGR2LAB) \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.astype(np.float32)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cv2.cvtColor(style,   cv2.COLOR_BGR2LAB) \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.astype(np.float32)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c_mean, c_std = c[:,:,ch].mean(), c[:,:,ch].std()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s_mean, s_std = s[:,:,ch].mean(), s[:,:,ch].std()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Reinhard transfer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c[:,:,ch] = (c[:,:,ch] - c_mean) \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* (s_std / (c_std +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1e-6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\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+ s_mean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cv2.cvtColor(np.clip(c,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cv2.COLOR_LAB2BGR)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52160" y="5989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13–28  ·  cv2.cvtColor handles the LAB ↔ BGR conversion; np.clip prevents under/overflow before casting back to uint8.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2 · style_transfer.py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texture_blend() — borrows the brushwork.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 ·  Neural Style Transfer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both images into low-frequency (general shape) and high-frequency (edges, texture) bands using Gaussian blur as the low-pass filter.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4846320" cy="640080"/>
          </a:xfrm>
          <a:prstGeom prst="rect">
            <a:avLst/>
          </a:prstGeom>
          <a:solidFill>
            <a:srgbClr val="141A2E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840480"/>
            <a:ext cx="54864" cy="64008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freq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content + 35% style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4005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stays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4846320" cy="640080"/>
          </a:xfrm>
          <a:prstGeom prst="rect">
            <a:avLst/>
          </a:prstGeom>
          <a:solidFill>
            <a:srgbClr val="141A2E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572000"/>
            <a:ext cx="54864" cy="64008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17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freq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864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content + 40% style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4736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blend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bias content higher? Lose too much structure and the output stops looking like the input.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1828800"/>
            <a:ext cx="5760720" cy="402336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52160" y="1828800"/>
            <a:ext cx="576072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193852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193852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193852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1828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style_transfer.py · texture_blend()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2286000"/>
            <a:ext cx="5212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texture_blend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(content, style, alpha=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low-freq (shape) from content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c_blur = cv2.GaussianBlur(content, (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c_high = cv2.subtract(content, c_blur)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split on style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s_resized = cv2.resize(style,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(content.shape[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content.shape[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s_blur = cv2.GaussianBlur(s_resized, (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s_high = cv2.subtract(s_resized, s_blur)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blend each band separately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 = cv2.addWeighted(c_blur,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1-alpha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s_blur,  alpha,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 = cv2.addWeighted(c_high,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s_high,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cv2.add(lo, hi)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5989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31–48  ·  (21,21) kernel is the low-pass cutoff. Smaller = more detail kept; larger = stronger blur.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3 &amp; 4 · style_transfer.py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painterly_effect() + stylize().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 ·  Neural Style Transfer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A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painterly_effect()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oil-paint look in two steps: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4846320" cy="1097280"/>
          </a:xfrm>
          <a:prstGeom prst="rect">
            <a:avLst/>
          </a:prstGeom>
          <a:solidFill>
            <a:srgbClr val="141A2E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834640"/>
            <a:ext cx="502920" cy="502920"/>
          </a:xfrm>
          <a:prstGeom prst="ellipse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Bilateral filter ×2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063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Edge-preserving smoothing — flattens surfaces into paint-blob regions without bleeding across object edges.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4846320" cy="1097280"/>
          </a:xfrm>
          <a:prstGeom prst="rect">
            <a:avLst/>
          </a:prstGeom>
          <a:solidFill>
            <a:srgbClr val="141A2E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threshold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297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black/white edge mask from the smoothed gray image, then bitwise-AND's it back onto the color to overlay contours.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166360"/>
            <a:ext cx="4846320" cy="1051560"/>
          </a:xfrm>
          <a:prstGeom prst="rect">
            <a:avLst/>
          </a:prstGeom>
          <a:solidFill>
            <a:srgbClr val="1E2742"/>
          </a:solidFill>
          <a:ln w="12700">
            <a:solidFill>
              <a:srgbClr val="F4A9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03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4A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stylize()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6235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orchestrator: resize → color_transfer → texture_blend → painterly_effect.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52160" y="1783080"/>
            <a:ext cx="5760720" cy="260604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9944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style_transfer.py · painterly_effect()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224028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painterly_effect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(img):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smooth = cv2.bilateralFilter(img, 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smooth = cv2.bilateralFilter(smooth, 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gray  = cv2.cvtColor(smooth, cv2.COLOR_BGR2GRAY)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edges = cv2.adaptiveThreshold(gray, 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cv2.ADAPTIVE_THRESH_MEAN_C,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cv2.THRESH_BINARY, blockSize=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C=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edges = cv2.cvtColor(edges, cv2.COLOR_GRAY2BGR)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cv2.bitwise_and(smooth, edges)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52160" y="4480560"/>
            <a:ext cx="5760720" cy="178308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52160" y="4480560"/>
            <a:ext cx="576072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459028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459028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9944" y="459028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4480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style_transfer.py · stylize()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49377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stylize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(content_img, style_img, blend=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cv2.resize(content_img, (SIZE, SIZE))    </a:t>
            </a: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256×256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cv2.resize(style_img,   (SIZE, SIZE))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color_transfer(c, s)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texture_blend(result, s, alpha=blend)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painterly_effect(result)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temporal_consistency.py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371600" cy="4572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20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keep the painting steady. </a:t>
            </a:r>
            <a:r>
              <a:rPr lang="en-US" sz="2200" i="1" dirty="0">
                <a:solidFill>
                  <a:srgbClr val="8A93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Optical flow + warp + α-blend = motion that doesn't flicker.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solidFill>
            <a:srgbClr val="141A2E"/>
          </a:solidFill>
          <a:ln w="6350">
            <a:solidFill>
              <a:srgbClr val="24305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692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5577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lines  ·  2 functions + 1 class  ·  Ruder et al. (2016)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smoother — remembers the previous frame and uses motion vectors to blend.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· temporal_consistency.py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optical_flow() + warp().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 ·  Neural Style Transfer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A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optical_flow()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Farnebäck's dense optical flow estimates, for every pixel, how far it moved between two consecutive grayscale frames. Output is a (H,W,2) array of (dx, dy) vectors.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4846320" cy="36576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pyr_scale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resolution per level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4846320" cy="36576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4023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depth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4846320" cy="36576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winsize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radius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4846320" cy="36576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846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4846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per-level refinement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warp() applies the flow: each pixel in the previous frame is moved to where it 'should be now' in the current frame.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852160" y="1783080"/>
            <a:ext cx="5760720" cy="182880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9944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temporal_consistency.py · optical_flow()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224028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optical_flow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(prev_gray, curr_gray):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cv2.calcOpticalFlowFarneback(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prev_gray, curr_gray, 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pyr_scale=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levels=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winsize=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iterations=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poly_n=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poly_sigma=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52160" y="3703320"/>
            <a:ext cx="5760720" cy="260604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52160" y="3703320"/>
            <a:ext cx="576072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381304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381304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9944" y="381304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3703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temporal_consistency.py · warp()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26480" y="41605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warp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(frame, flow):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h, w = flow.shape[: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an identity coordinate grid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gx, gy = np.meshgrid(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np.arange(w, dtype=np.float32),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np.arange(h, dtype=np.float32))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shift the grid by the flow vectors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cv2.remap(frame,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(gx + flow[:,:,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]).astype(np.float32),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(gy + flow[:,:,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]).astype(np.float32),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cv2.INTER_LINEAR,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borderMode=cv2.BORDER_REFLECT)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· temporal_consistency.py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TemporalSmoother — the stateful blender.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 ·  Neural Style Transfer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CLASS?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needs memory: the previous frame's grayscale (for flow) and the previous stylized output (to warp forward). A class holds that state across calls.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4846320" cy="640080"/>
          </a:xfrm>
          <a:prstGeom prst="rect">
            <a:avLst/>
          </a:prstGeom>
          <a:solidFill>
            <a:srgbClr val="141A2E"/>
          </a:solidFill>
          <a:ln w="9525">
            <a:solidFill>
              <a:srgbClr val="F4A9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86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α · new  +  (1 − α) · warped_prev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0.7 (default)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from the freshly stylized frame, 30% pulled from the previous output but motion-corrected. Lower α = smoother but more ghosting. Higher α = sharper but more flicker.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1783080"/>
            <a:ext cx="5760720" cy="452628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9944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temporal_consistency.py · TemporalSmoother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2402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TemporalSmoother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alpha=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self.alpha = alpha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self._prev_gray   =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self._prev_styled =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frame, styled):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gray = cv2.cvtColor(frame, cv2.COLOR_BGR2GRAY)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call: nothing to smooth against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self._prev_gray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None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self._prev_gray   = gray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self._prev_styled = styled.copy()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styled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flow   = optical_flow(self._prev_gray, gray)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warped = warp(self._prev_styled, flow)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(self.alpha * styled +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(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self.alpha) * warped).astype(np.uint8)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self._prev_gray, self._prev_styled = gray, result.copy()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mainn.py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371600" cy="4572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20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orchestrator. </a:t>
            </a:r>
            <a:r>
              <a:rPr lang="en-US" sz="2200" i="1" dirty="0">
                <a:solidFill>
                  <a:srgbClr val="8A93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Parses the command line, picks a mode (webcam / video / image), and runs the main loop.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solidFill>
            <a:srgbClr val="141A2E"/>
          </a:solidFill>
          <a:ln w="6350">
            <a:solidFill>
              <a:srgbClr val="24305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692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5577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lines  ·  3 run modes  ·  argparse CLI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stylize() and TemporalSmoother and wires them into three runtime modes.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· mainn.py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argparse → mode dispatch.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 ·  Neural Style Transfer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4846320" cy="45720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--style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the style image (required)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4846320" cy="45720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--video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 video 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4846320" cy="45720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--image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 single image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4846320" cy="45720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--camera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index (default: 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4846320" cy="45720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--style-weight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at runtime via +/−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892040"/>
            <a:ext cx="4846320" cy="45720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892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--temporal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4892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temporal smoothing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0" y="1783080"/>
            <a:ext cx="5760720" cy="402336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9944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mainn.py · __main__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2240280"/>
            <a:ext cx="5212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__name__ == 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"__main__"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argparse.ArgumentParser()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p.add_argument(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"--style"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required=True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p.add_argument(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"--video"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default=None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p.add_argument(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"--image"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default=None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p.add_argument(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"--camera"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type=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default=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p.add_argument(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"--temporal"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action=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"store_true"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default=True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 = p.parse_args()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style_img = load_image(args.style)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pick a runtime mode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 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args.video: run_video(style_img, args)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args.image: run_image(style_img, args)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   run_webcam(style_img, args)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52160" y="5989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121–143  ·  Three runtime paths from one entry point. Webcam is the default if no file is given.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 · mainn.py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process_frame() + run_video().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 ·  Neural Style Transfer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A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process_frame()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wrapper around stylize() — keeps the main loop short and gives a single hook to extend later (e.g. for per-frame temporal logic).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A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run_video()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822192"/>
            <a:ext cx="164592" cy="164592"/>
          </a:xfrm>
          <a:prstGeom prst="ellipse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221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60120" y="3703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input with cv2.VideoCapture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279392"/>
            <a:ext cx="164592" cy="164592"/>
          </a:xfrm>
          <a:prstGeom prst="ellipse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279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VideoWriter at source FPS/size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736592"/>
            <a:ext cx="164592" cy="164592"/>
          </a:xfrm>
          <a:prstGeom prst="ellipse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60120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read → stylize → resize → smooth → write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5193792"/>
            <a:ext cx="164592" cy="164592"/>
          </a:xfrm>
          <a:prstGeom prst="ellipse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1937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0120" y="5074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progress, release handles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52160" y="1783080"/>
            <a:ext cx="5760720" cy="150876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9944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mainn.py · process_frame()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22402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process_frame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(frame, style_img, prev, args):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frame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 = stylize(content, style_img)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0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result, result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52160" y="3383280"/>
            <a:ext cx="5760720" cy="297180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52160" y="3383280"/>
            <a:ext cx="576072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34930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34930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9944" y="34930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3383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mainn.py · run_video()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38404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run_video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(style_img, args):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 = cv2.VideoCapture(args.video)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fps = cap.get(cv2.CAP_PROP_FPS)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w, h = </a:t>
            </a: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(cap.get(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 </a:t>
            </a: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(cap.get(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cv2.VideoWriter(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"output/result.mp4"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smoother = TemporalSmoother()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ret, frame = cap.read()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ret: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styled, prev = process_frame(frame, style_img, prev, args)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args.temporal: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styled = smoother.apply(frame, styled)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out.write(cv2.resize(styled, (w, h)))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 · mainn.py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run_webcam() — live, with hotkeys.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 ·  Neural Style Transfer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2025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HOTKEYS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377440"/>
            <a:ext cx="4846320" cy="45720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2450592"/>
            <a:ext cx="457200" cy="310896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24505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3774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the loop and close window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2926080"/>
            <a:ext cx="4846320" cy="45720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2999232"/>
            <a:ext cx="457200" cy="310896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2999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25880" y="29260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current frame to output/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3474720"/>
            <a:ext cx="4846320" cy="45720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3547872"/>
            <a:ext cx="457200" cy="310896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35478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325880" y="3474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temporal smoothing on/off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" y="4023360"/>
            <a:ext cx="4846320" cy="45720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9808" y="4096512"/>
            <a:ext cx="457200" cy="310896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4096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4023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style weight (up to 1e9)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40080" y="4572000"/>
            <a:ext cx="4846320" cy="457200"/>
          </a:xfrm>
          <a:prstGeom prst="rect">
            <a:avLst/>
          </a:prstGeom>
          <a:solidFill>
            <a:srgbClr val="141A2E"/>
          </a:solidFill>
          <a:ln w="5080">
            <a:solidFill>
              <a:srgbClr val="24305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9808" y="4645152"/>
            <a:ext cx="457200" cy="310896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9808" y="46451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325880" y="4572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style weight (down to 1e3)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0080" y="5349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live FPS counter and style-weight readout overlaid on the frame with cv2.putText().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852160" y="1783080"/>
            <a:ext cx="5760720" cy="452628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989320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99632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09944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5216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mainn.py · run_webcam() — main loop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126480" y="22402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cv2.VideoCapture(args.camera)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smoother = TemporalSmoother(alpha=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fps = 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ret: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t0 = time.time()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styled, prev = process_frame(frame, style_img, prev, args)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fps = 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fps + 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(time.time() - t0, 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1e-3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args.temporal: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styled = smoother.apply(frame, styled)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cv2.putText(styled,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f"FPS:{fps:.1f}"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cv2.imshow(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"Neural Style"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styled)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= cv2.waitKey(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&amp; 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== 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'q'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== 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's'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</a:t>
            </a:r>
            <a:r>
              <a:rPr lang="en-US" sz="9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snapshot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== 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't'</a:t>
            </a:r>
            <a:r>
              <a:rPr lang="en-US" sz="95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args.temporal ^= </a:t>
            </a: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one frame travels through the code.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 ·  Neural Style Transfer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single frame from cv2.VideoCapture to output — every function it touches, in order.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240280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69080" y="2240280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run_video()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60920" y="2240280"/>
            <a:ext cx="4343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next frame from cv2.VideoCapture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08760" y="2697480"/>
            <a:ext cx="9875520" cy="4572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06624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2706624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2706624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process_frame()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60920" y="2706624"/>
            <a:ext cx="4343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wrapper, hands off to stylize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08760" y="3163824"/>
            <a:ext cx="9875520" cy="4572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172968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172968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style_transfer.py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69080" y="3172968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stylize()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60920" y="3172968"/>
            <a:ext cx="4343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resizes to 256×256, then runs the 3-pass chain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08760" y="3630168"/>
            <a:ext cx="9875520" cy="4572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639312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3639312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style_transfer.py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69080" y="3639312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color_transfer()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60920" y="3639312"/>
            <a:ext cx="4343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Reinhard LAB statistics transfer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508760" y="4096512"/>
            <a:ext cx="9875520" cy="4572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105656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08760" y="4105656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style_transfer.py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69080" y="4105656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texture_blend()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60920" y="4105656"/>
            <a:ext cx="4343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frequency-band weighted mix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508760" y="4562856"/>
            <a:ext cx="9875520" cy="4572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572000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508760" y="4572000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style_transfer.py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9080" y="4572000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painterly_effect()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60920" y="4572000"/>
            <a:ext cx="4343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 + adaptive threshold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508760" y="5029200"/>
            <a:ext cx="9875520" cy="4572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038344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508760" y="5038344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mainn.py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69080" y="5038344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cv2.resize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60920" y="5038344"/>
            <a:ext cx="4343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to original resolution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508760" y="5495544"/>
            <a:ext cx="9875520" cy="4572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504688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508760" y="5504688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temporal_consistency.py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69080" y="5504688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TemporalSmoother.apply()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60920" y="5504688"/>
            <a:ext cx="4343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optical_flow + warp + α-blend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508760" y="5961888"/>
            <a:ext cx="9875520" cy="4572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5971032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508760" y="5971032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mainn.py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069080" y="5971032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VideoWriter.write()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360920" y="5971032"/>
            <a:ext cx="4343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written to output/result.mp4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files.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~290 lines.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914400" cy="36576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classical computer vision — no model weights, no GPU. Every function small, named after what it does, composable. Ready to extend with VGG-based losses or RAFT optical flow.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217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kern="0" spc="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3189</Words>
  <Application>Microsoft Office PowerPoint</Application>
  <PresentationFormat>Geniş ekran</PresentationFormat>
  <Paragraphs>253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Style Transfer — Code Walkthrough</dc:title>
  <dc:subject>PptxGenJS Presentation</dc:subject>
  <dc:creator>Internship Group</dc:creator>
  <cp:lastModifiedBy>Taha Gümüş</cp:lastModifiedBy>
  <cp:revision>1</cp:revision>
  <dcterms:created xsi:type="dcterms:W3CDTF">2026-05-22T08:33:30Z</dcterms:created>
  <dcterms:modified xsi:type="dcterms:W3CDTF">2026-05-22T08:39:02Z</dcterms:modified>
</cp:coreProperties>
</file>