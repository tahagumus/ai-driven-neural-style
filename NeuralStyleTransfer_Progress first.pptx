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0427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tyle_referenc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017" y="206327"/>
            <a:ext cx="4876678" cy="644534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76678" y="0"/>
            <a:ext cx="2438339" cy="6858000"/>
          </a:xfrm>
          <a:prstGeom prst="rect">
            <a:avLst/>
          </a:prstGeom>
          <a:solidFill>
            <a:srgbClr val="0B0E1A">
              <a:alpha val="70000"/>
            </a:srgbClr>
          </a:solidFill>
          <a:ln w="12700">
            <a:solidFill>
              <a:srgbClr val="0B0E1A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486263" cy="6858000"/>
          </a:xfrm>
          <a:prstGeom prst="rect">
            <a:avLst/>
          </a:prstGeom>
          <a:solidFill>
            <a:srgbClr val="0B0E1A"/>
          </a:solidFill>
          <a:ln w="12700">
            <a:solidFill>
              <a:srgbClr val="0B0E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40080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0120" y="566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· PROGRESS REPORT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40080" y="1371600"/>
            <a:ext cx="5943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tr-TR" sz="56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</a:t>
            </a:r>
            <a:r>
              <a:rPr lang="tr-TR" sz="5600" b="1" dirty="0" err="1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Driven</a:t>
            </a:r>
            <a:r>
              <a:rPr lang="tr-TR" sz="56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56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</a:t>
            </a:r>
            <a:endParaRPr lang="en-US" sz="5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Style </a:t>
            </a:r>
            <a:r>
              <a:rPr lang="en-US" sz="5600" b="1" i="1" dirty="0">
                <a:solidFill>
                  <a:srgbClr val="F4A9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</a:t>
            </a:r>
            <a:endParaRPr lang="en-US" sz="5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Video.</a:t>
            </a:r>
            <a:endParaRPr lang="en-US" sz="5600" dirty="0"/>
          </a:p>
        </p:txBody>
      </p:sp>
      <p:sp>
        <p:nvSpPr>
          <p:cNvPr id="8" name="Shape 4"/>
          <p:cNvSpPr/>
          <p:nvPr/>
        </p:nvSpPr>
        <p:spPr>
          <a:xfrm>
            <a:off x="640080" y="5440680"/>
            <a:ext cx="914400" cy="36576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0080" y="55778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tr-TR" sz="140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 GÜMÜŞ 20222303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tr-TR" sz="140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EMİR BALTACI 20223899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40080" y="6263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 – 2</a:t>
            </a:r>
            <a:endParaRPr lang="en-US" sz="1100" dirty="0"/>
          </a:p>
          <a:p>
            <a:pPr marL="0" indent="0">
              <a:buNone/>
            </a:pPr>
            <a:r>
              <a:rPr lang="en-US" sz="11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Group  ·  May 202</a:t>
            </a:r>
            <a:r>
              <a:rPr lang="tr-TR" sz="11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315017" y="642424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30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REFERENCE — Vincent van Gogh, The Starry Night (1889)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02975" y="182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i="1" dirty="0">
                <a:solidFill>
                  <a:srgbClr val="2A34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set out to build.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6446520"/>
            <a:ext cx="10911535" cy="9144"/>
          </a:xfrm>
          <a:prstGeom prst="rect">
            <a:avLst/>
          </a:prstGeom>
          <a:solidFill>
            <a:srgbClr val="243054"/>
          </a:solidFill>
          <a:ln w="12700">
            <a:solidFill>
              <a:srgbClr val="24305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Style Transfer  ·  Progress Report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65215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Group  ·  Weeks 1 –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that takes any video — a recorded file, a webcam feed — and re-paints every frame in the style of a chosen artwork. The output should look like a moving painting, not a flickering glitch.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46988" y="39319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0" y="1783080"/>
            <a:ext cx="2606040" cy="2240280"/>
          </a:xfrm>
          <a:prstGeom prst="rect">
            <a:avLst/>
          </a:prstGeom>
          <a:solidFill>
            <a:srgbClr val="1E2742"/>
          </a:solidFill>
          <a:ln w="9525">
            <a:solidFill>
              <a:srgbClr val="243054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1783080"/>
            <a:ext cx="54864" cy="2240280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011680"/>
            <a:ext cx="411480" cy="4114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275320" y="1965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2A34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629400" y="2560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Video, not images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629400" y="30632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full .mp4 streams end-to-end — input, transform, output.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235440" y="1783080"/>
            <a:ext cx="2606040" cy="2240280"/>
          </a:xfrm>
          <a:prstGeom prst="rect">
            <a:avLst/>
          </a:prstGeom>
          <a:solidFill>
            <a:srgbClr val="1E2742"/>
          </a:solidFill>
          <a:ln w="9525">
            <a:solidFill>
              <a:srgbClr val="243054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235440" y="1783080"/>
            <a:ext cx="54864" cy="2240280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2011680"/>
            <a:ext cx="411480" cy="4114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1109960" y="1965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2A34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9464040" y="2560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Per-frame transform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9464040" y="30632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style operation to every single frame individually.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400800" y="4251960"/>
            <a:ext cx="2606040" cy="2240280"/>
          </a:xfrm>
          <a:prstGeom prst="rect">
            <a:avLst/>
          </a:prstGeom>
          <a:solidFill>
            <a:srgbClr val="1E2742"/>
          </a:solidFill>
          <a:ln w="9525">
            <a:solidFill>
              <a:srgbClr val="243054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400800" y="4251960"/>
            <a:ext cx="54864" cy="2240280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480560"/>
            <a:ext cx="411480" cy="4114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275320" y="4434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2A34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6629400" y="5029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 smoothness</a:t>
            </a:r>
            <a:endParaRPr lang="en-US" sz="1700" dirty="0"/>
          </a:p>
        </p:txBody>
      </p:sp>
      <p:sp>
        <p:nvSpPr>
          <p:cNvPr id="29" name="Text 24"/>
          <p:cNvSpPr/>
          <p:nvPr/>
        </p:nvSpPr>
        <p:spPr>
          <a:xfrm>
            <a:off x="6629400" y="55321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flicker between frames so motion feels coherent.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9235440" y="4251960"/>
            <a:ext cx="2606040" cy="2240280"/>
          </a:xfrm>
          <a:prstGeom prst="rect">
            <a:avLst/>
          </a:prstGeom>
          <a:solidFill>
            <a:srgbClr val="1E2742"/>
          </a:solidFill>
          <a:ln w="9525">
            <a:solidFill>
              <a:srgbClr val="243054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235440" y="4251960"/>
            <a:ext cx="54864" cy="2240280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0" y="4480560"/>
            <a:ext cx="411480" cy="4114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1109960" y="4434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i="1" dirty="0">
                <a:solidFill>
                  <a:srgbClr val="2A34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464040" y="5029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Painterly output</a:t>
            </a:r>
            <a:endParaRPr lang="en-US" sz="1700" dirty="0"/>
          </a:p>
        </p:txBody>
      </p:sp>
      <p:sp>
        <p:nvSpPr>
          <p:cNvPr id="35" name="Text 29"/>
          <p:cNvSpPr/>
          <p:nvPr/>
        </p:nvSpPr>
        <p:spPr>
          <a:xfrm>
            <a:off x="9464040" y="55321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the style's palette, texture, and brush feel.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02975" y="182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i="1" dirty="0">
                <a:solidFill>
                  <a:srgbClr val="2A34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 frame becomes a painting.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6446520"/>
            <a:ext cx="10911535" cy="9144"/>
          </a:xfrm>
          <a:prstGeom prst="rect">
            <a:avLst/>
          </a:prstGeom>
          <a:solidFill>
            <a:srgbClr val="243054"/>
          </a:solidFill>
          <a:ln w="12700">
            <a:solidFill>
              <a:srgbClr val="24305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Style Transfer  ·  Progress Report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65215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Group  ·  Weeks 1 – 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2139696" cy="3108960"/>
          </a:xfrm>
          <a:prstGeom prst="rect">
            <a:avLst/>
          </a:prstGeom>
          <a:solidFill>
            <a:srgbClr val="1E2742"/>
          </a:solidFill>
          <a:ln w="9525">
            <a:solidFill>
              <a:srgbClr val="243054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084832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4A9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2651760"/>
            <a:ext cx="731520" cy="7315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352044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77240" y="39319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.mp4 / webcam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2960" y="4526280"/>
            <a:ext cx="1773936" cy="347472"/>
          </a:xfrm>
          <a:prstGeom prst="rect">
            <a:avLst/>
          </a:prstGeom>
          <a:solidFill>
            <a:srgbClr val="0B0E1A"/>
          </a:solidFill>
          <a:ln w="6350">
            <a:solidFill>
              <a:srgbClr val="24305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52628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cv2.VideoCapture</a:t>
            </a:r>
            <a:endParaRPr lang="en-US" sz="9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3355848"/>
            <a:ext cx="237744" cy="23774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944368" y="1920240"/>
            <a:ext cx="2139696" cy="3108960"/>
          </a:xfrm>
          <a:prstGeom prst="rect">
            <a:avLst/>
          </a:prstGeom>
          <a:solidFill>
            <a:srgbClr val="1E2742"/>
          </a:solidFill>
          <a:ln w="9525">
            <a:solidFill>
              <a:srgbClr val="243054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2944368" y="2084832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4A9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8456" y="2651760"/>
            <a:ext cx="731520" cy="7315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944368" y="352044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3081528" y="39319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&amp; resize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3127248" y="4526280"/>
            <a:ext cx="1773936" cy="347472"/>
          </a:xfrm>
          <a:prstGeom prst="rect">
            <a:avLst/>
          </a:prstGeom>
          <a:solidFill>
            <a:srgbClr val="0B0E1A"/>
          </a:solidFill>
          <a:ln w="6350">
            <a:solidFill>
              <a:srgbClr val="243054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127248" y="452628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cap.read()</a:t>
            </a:r>
            <a:endParaRPr lang="en-US" sz="95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3355848"/>
            <a:ext cx="237744" cy="237744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5248656" y="1920240"/>
            <a:ext cx="2139696" cy="3108960"/>
          </a:xfrm>
          <a:prstGeom prst="rect">
            <a:avLst/>
          </a:prstGeom>
          <a:solidFill>
            <a:srgbClr val="1E2742"/>
          </a:solidFill>
          <a:ln w="9525">
            <a:solidFill>
              <a:srgbClr val="243054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5248656" y="2084832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4A9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2744" y="2651760"/>
            <a:ext cx="731520" cy="7315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48656" y="352044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Stylize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5385816" y="39319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+ texture + painterly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5431536" y="4526280"/>
            <a:ext cx="1773936" cy="347472"/>
          </a:xfrm>
          <a:prstGeom prst="rect">
            <a:avLst/>
          </a:prstGeom>
          <a:solidFill>
            <a:srgbClr val="0B0E1A"/>
          </a:solidFill>
          <a:ln w="6350">
            <a:solidFill>
              <a:srgbClr val="243054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5431536" y="452628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stylize()</a:t>
            </a:r>
            <a:endParaRPr lang="en-US" sz="95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776" y="3355848"/>
            <a:ext cx="237744" cy="237744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7552944" y="1920240"/>
            <a:ext cx="2139696" cy="3108960"/>
          </a:xfrm>
          <a:prstGeom prst="rect">
            <a:avLst/>
          </a:prstGeom>
          <a:solidFill>
            <a:srgbClr val="1E2742"/>
          </a:solidFill>
          <a:ln w="9525">
            <a:solidFill>
              <a:srgbClr val="243054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26"/>
          <p:cNvSpPr/>
          <p:nvPr/>
        </p:nvSpPr>
        <p:spPr>
          <a:xfrm>
            <a:off x="7552944" y="2084832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4A9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7032" y="2651760"/>
            <a:ext cx="731520" cy="73152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552944" y="352044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Smooth</a:t>
            </a:r>
            <a:endParaRPr lang="en-US" sz="1800" dirty="0"/>
          </a:p>
        </p:txBody>
      </p:sp>
      <p:sp>
        <p:nvSpPr>
          <p:cNvPr id="37" name="Text 28"/>
          <p:cNvSpPr/>
          <p:nvPr/>
        </p:nvSpPr>
        <p:spPr>
          <a:xfrm>
            <a:off x="7690104" y="39319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flow blend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7781544" y="4548280"/>
            <a:ext cx="1773936" cy="347472"/>
          </a:xfrm>
          <a:prstGeom prst="rect">
            <a:avLst/>
          </a:prstGeom>
          <a:solidFill>
            <a:srgbClr val="0B0E1A"/>
          </a:solidFill>
          <a:ln w="6350">
            <a:solidFill>
              <a:srgbClr val="243054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735824" y="452628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TemporalSmoother</a:t>
            </a:r>
            <a:endParaRPr lang="en-US" sz="950" dirty="0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4" y="3355848"/>
            <a:ext cx="237744" cy="237744"/>
          </a:xfrm>
          <a:prstGeom prst="rect">
            <a:avLst/>
          </a:prstGeom>
        </p:spPr>
      </p:pic>
      <p:sp>
        <p:nvSpPr>
          <p:cNvPr id="41" name="Shape 31"/>
          <p:cNvSpPr/>
          <p:nvPr/>
        </p:nvSpPr>
        <p:spPr>
          <a:xfrm>
            <a:off x="9857232" y="1920240"/>
            <a:ext cx="2139696" cy="3108960"/>
          </a:xfrm>
          <a:prstGeom prst="rect">
            <a:avLst/>
          </a:prstGeom>
          <a:solidFill>
            <a:srgbClr val="1E2742"/>
          </a:solidFill>
          <a:ln w="9525">
            <a:solidFill>
              <a:srgbClr val="243054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2" name="Text 32"/>
          <p:cNvSpPr/>
          <p:nvPr/>
        </p:nvSpPr>
        <p:spPr>
          <a:xfrm>
            <a:off x="9857232" y="2084832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4A9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61320" y="2651760"/>
            <a:ext cx="731520" cy="731520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9857232" y="352044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800" dirty="0"/>
          </a:p>
        </p:txBody>
      </p:sp>
      <p:sp>
        <p:nvSpPr>
          <p:cNvPr id="45" name="Text 34"/>
          <p:cNvSpPr/>
          <p:nvPr/>
        </p:nvSpPr>
        <p:spPr>
          <a:xfrm>
            <a:off x="9994392" y="39319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video</a:t>
            </a:r>
            <a:endParaRPr lang="en-US" sz="1100" dirty="0"/>
          </a:p>
        </p:txBody>
      </p:sp>
      <p:sp>
        <p:nvSpPr>
          <p:cNvPr id="46" name="Shape 35"/>
          <p:cNvSpPr/>
          <p:nvPr/>
        </p:nvSpPr>
        <p:spPr>
          <a:xfrm>
            <a:off x="10040112" y="4526280"/>
            <a:ext cx="1773936" cy="347472"/>
          </a:xfrm>
          <a:prstGeom prst="rect">
            <a:avLst/>
          </a:prstGeom>
          <a:solidFill>
            <a:srgbClr val="0B0E1A"/>
          </a:solidFill>
          <a:ln w="6350">
            <a:solidFill>
              <a:srgbClr val="243054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10040112" y="452628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VideoWriter</a:t>
            </a:r>
            <a:endParaRPr lang="en-US" sz="950" dirty="0"/>
          </a:p>
        </p:txBody>
      </p:sp>
      <p:sp>
        <p:nvSpPr>
          <p:cNvPr id="48" name="Text 37"/>
          <p:cNvSpPr/>
          <p:nvPr/>
        </p:nvSpPr>
        <p:spPr>
          <a:xfrm>
            <a:off x="640080" y="5486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image is loaded once at startup </a:t>
            </a:r>
            <a:r>
              <a:rPr lang="en-US" sz="1200" i="1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(starry_night.jpg)</a:t>
            </a:r>
            <a:r>
              <a:rPr lang="en-US" sz="120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every frame is matched against the same reference, so the output stays stylistically consistent across the whole clip.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02975" y="182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i="1" dirty="0">
                <a:solidFill>
                  <a:srgbClr val="2A34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operations, one painted frame.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6446520"/>
            <a:ext cx="10911535" cy="9144"/>
          </a:xfrm>
          <a:prstGeom prst="rect">
            <a:avLst/>
          </a:prstGeom>
          <a:solidFill>
            <a:srgbClr val="243054"/>
          </a:solidFill>
          <a:ln w="12700">
            <a:solidFill>
              <a:srgbClr val="24305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Style Transfer  ·  Progress Report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65215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Group  ·  Weeks 1 –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 heavy VGG-based optimization loop, we built a fast classical pipeline. Each frame goes through three stacked passes — and the whole chain runs in real time.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1500" y="2788920"/>
            <a:ext cx="3657600" cy="3291840"/>
          </a:xfrm>
          <a:prstGeom prst="rect">
            <a:avLst/>
          </a:prstGeom>
          <a:solidFill>
            <a:srgbClr val="1E2742"/>
          </a:solidFill>
          <a:ln w="9525">
            <a:solidFill>
              <a:srgbClr val="243054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9260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i="1" dirty="0">
                <a:solidFill>
                  <a:srgbClr val="F4A9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 Transfer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" y="4343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mean and standard deviation of each LAB channel from the style image into the content frame.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5577840"/>
            <a:ext cx="3108960" cy="384048"/>
          </a:xfrm>
          <a:prstGeom prst="rect">
            <a:avLst/>
          </a:prstGeom>
          <a:solidFill>
            <a:srgbClr val="0B0E1A"/>
          </a:solidFill>
          <a:ln w="6350">
            <a:solidFill>
              <a:srgbClr val="2430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5778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cv2.cvtColor → LAB → match μ, σ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34840" y="2788920"/>
            <a:ext cx="3657600" cy="3291840"/>
          </a:xfrm>
          <a:prstGeom prst="rect">
            <a:avLst/>
          </a:prstGeom>
          <a:solidFill>
            <a:srgbClr val="1E2742"/>
          </a:solidFill>
          <a:ln w="9525">
            <a:solidFill>
              <a:srgbClr val="243054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18" name="Text 16"/>
          <p:cNvSpPr/>
          <p:nvPr/>
        </p:nvSpPr>
        <p:spPr>
          <a:xfrm>
            <a:off x="4709160" y="29260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i="1" dirty="0">
                <a:solidFill>
                  <a:srgbClr val="F4A9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4709160" y="3886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Texture Blend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09160" y="4343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09160" y="47548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content and style into low/high frequency bands. Keep content structure, borrow style brushwork.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09160" y="5577840"/>
            <a:ext cx="3108960" cy="384048"/>
          </a:xfrm>
          <a:prstGeom prst="rect">
            <a:avLst/>
          </a:prstGeom>
          <a:solidFill>
            <a:srgbClr val="0B0E1A"/>
          </a:solidFill>
          <a:ln w="6350">
            <a:solidFill>
              <a:srgbClr val="2430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55778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GaussianBlur + addWeighted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0" y="2788920"/>
            <a:ext cx="3657600" cy="3291840"/>
          </a:xfrm>
          <a:prstGeom prst="rect">
            <a:avLst/>
          </a:prstGeom>
          <a:solidFill>
            <a:srgbClr val="1E2742"/>
          </a:solidFill>
          <a:ln w="9525">
            <a:solidFill>
              <a:srgbClr val="243054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03920" y="29260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i="1" dirty="0">
                <a:solidFill>
                  <a:srgbClr val="F4A9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400" dirty="0"/>
          </a:p>
        </p:txBody>
      </p:sp>
      <p:sp>
        <p:nvSpPr>
          <p:cNvPr id="26" name="Text 24"/>
          <p:cNvSpPr/>
          <p:nvPr/>
        </p:nvSpPr>
        <p:spPr>
          <a:xfrm>
            <a:off x="8503920" y="3886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Painterly Pass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503920" y="4343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503920" y="47548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Edge-preserving smoothing flattens surfaces into paint blobs; adaptive thresholding adds contour lines.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503920" y="5577840"/>
            <a:ext cx="3108960" cy="384048"/>
          </a:xfrm>
          <a:prstGeom prst="rect">
            <a:avLst/>
          </a:prstGeom>
          <a:solidFill>
            <a:srgbClr val="0B0E1A"/>
          </a:solidFill>
          <a:ln w="6350">
            <a:solidFill>
              <a:srgbClr val="2430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0" y="55778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bilateralFilter + adaptiveThreshold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02975" y="182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i="1" dirty="0">
                <a:solidFill>
                  <a:srgbClr val="2A34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FLICKER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need temporal smoothing.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6446520"/>
            <a:ext cx="10911535" cy="9144"/>
          </a:xfrm>
          <a:prstGeom prst="rect">
            <a:avLst/>
          </a:prstGeom>
          <a:solidFill>
            <a:srgbClr val="243054"/>
          </a:solidFill>
          <a:ln w="12700">
            <a:solidFill>
              <a:srgbClr val="24305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Style Transfer  ·  Progress Report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65215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Group  ·  Weeks 1 –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frame is stylized independently — which means tiny changes in pixel values produce wildly different paintings. Played back at 30 fps, that looks like strobing noise.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5486400" cy="914400"/>
          </a:xfrm>
          <a:prstGeom prst="rect">
            <a:avLst/>
          </a:prstGeom>
          <a:solidFill>
            <a:srgbClr val="141A2E"/>
          </a:solidFill>
          <a:ln w="9525">
            <a:solidFill>
              <a:srgbClr val="F4A938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61188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3040" y="345643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Ruder et al. (2016)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Artistic style transfer for videos · arXiv:1604.08610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FIX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48463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optical flow between consecutive frames, warp the previous stylized output forward, and blend </a:t>
            </a:r>
            <a:r>
              <a:rPr lang="en-US" sz="1350" i="1" dirty="0">
                <a:solidFill>
                  <a:srgbClr val="F8C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α·new + (1−α)·warped_prev</a:t>
            </a:r>
            <a:r>
              <a:rPr lang="en-US" sz="13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583680" y="1856232"/>
            <a:ext cx="5029200" cy="4434840"/>
          </a:xfrm>
          <a:prstGeom prst="rect">
            <a:avLst/>
          </a:prstGeom>
          <a:solidFill>
            <a:srgbClr val="141A2E"/>
          </a:solidFill>
          <a:ln w="9525">
            <a:solidFill>
              <a:srgbClr val="243054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83680" y="1783080"/>
            <a:ext cx="5029200" cy="365760"/>
          </a:xfrm>
          <a:prstGeom prst="rect">
            <a:avLst/>
          </a:prstGeom>
          <a:solidFill>
            <a:srgbClr val="0B0E1A"/>
          </a:solidFill>
          <a:ln w="6350">
            <a:solidFill>
              <a:srgbClr val="24305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720840" y="189280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931152" y="189280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41464" y="1892808"/>
            <a:ext cx="146304" cy="146304"/>
          </a:xfrm>
          <a:prstGeom prst="ellipse">
            <a:avLst/>
          </a:prstGeom>
          <a:solidFill>
            <a:srgbClr val="5A6378"/>
          </a:solidFill>
          <a:ln w="12700">
            <a:solidFill>
              <a:srgbClr val="5A6378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temporal_consistency.py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858000" y="2286000"/>
            <a:ext cx="44805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TemporalSmoother</a:t>
            </a:r>
            <a:r>
              <a:rPr lang="en-US" sz="12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    </a:t>
            </a: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</a:t>
            </a:r>
            <a:r>
              <a:rPr lang="en-US" sz="12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frame, styled):
        gray = cv2.cvtColor(frame, ...)
</a:t>
            </a:r>
            <a:r>
              <a:rPr lang="en-US" sz="120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2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flow   = optical_flow(prev, gray)
        warped = warp(prev_styled, flow)
       </a:t>
            </a:r>
            <a:r>
              <a:rPr lang="en-US" sz="12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(alpha * styled +
                  (1 - alpha) * warped)
        </a:t>
            </a: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00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result.astype(np.uint8)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02975" y="182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i="1" dirty="0">
                <a:solidFill>
                  <a:srgbClr val="2A34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&amp; after.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6446520"/>
            <a:ext cx="10911535" cy="9144"/>
          </a:xfrm>
          <a:prstGeom prst="rect">
            <a:avLst/>
          </a:prstGeom>
          <a:solidFill>
            <a:srgbClr val="243054"/>
          </a:solidFill>
          <a:ln w="12700">
            <a:solidFill>
              <a:srgbClr val="24305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Style Transfer  ·  Progress Report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65215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Group  ·  Weeks 1 –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08471" y="1828800"/>
            <a:ext cx="2420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31503" y="1828800"/>
            <a:ext cx="2420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STYLIZED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08471" y="2194560"/>
            <a:ext cx="2420112" cy="4023360"/>
          </a:xfrm>
          <a:prstGeom prst="rect">
            <a:avLst/>
          </a:prstGeom>
          <a:solidFill>
            <a:srgbClr val="141A2E"/>
          </a:solidFill>
          <a:ln w="9525">
            <a:solidFill>
              <a:srgbClr val="2430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31503" y="2194560"/>
            <a:ext cx="2420112" cy="4023360"/>
          </a:xfrm>
          <a:prstGeom prst="rect">
            <a:avLst/>
          </a:prstGeom>
          <a:solidFill>
            <a:srgbClr val="141A2E"/>
          </a:solidFill>
          <a:ln w="19050">
            <a:solidFill>
              <a:srgbClr val="F4A938"/>
            </a:solidFill>
            <a:prstDash val="solid"/>
          </a:ln>
        </p:spPr>
      </p:sp>
      <p:pic>
        <p:nvPicPr>
          <p:cNvPr id="13" name="Image 0" descr="/home/claude/assets/orig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351" y="2377440"/>
            <a:ext cx="2054352" cy="3657600"/>
          </a:xfrm>
          <a:prstGeom prst="rect">
            <a:avLst/>
          </a:prstGeom>
        </p:spPr>
      </p:pic>
      <p:pic>
        <p:nvPicPr>
          <p:cNvPr id="14" name="Image 1" descr="/home/claude/assets/styled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4383" y="2377440"/>
            <a:ext cx="2054352" cy="3657600"/>
          </a:xfrm>
          <a:prstGeom prst="rect">
            <a:avLst/>
          </a:prstGeom>
        </p:spPr>
      </p:pic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2883" y="40690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SOURCE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64008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5EF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firstvideo.mp4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40080" y="28803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i="1" dirty="0">
                <a:solidFill>
                  <a:srgbClr val="F4A9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15s</a:t>
            </a:r>
            <a:endParaRPr lang="en-US" sz="3600" dirty="0"/>
          </a:p>
        </p:txBody>
      </p:sp>
      <p:sp>
        <p:nvSpPr>
          <p:cNvPr id="19" name="Text 14"/>
          <p:cNvSpPr/>
          <p:nvPr/>
        </p:nvSpPr>
        <p:spPr>
          <a:xfrm>
            <a:off x="640080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2011680" y="28803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i="1" dirty="0">
                <a:solidFill>
                  <a:srgbClr val="F4A9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454</a:t>
            </a:r>
            <a:endParaRPr lang="en-US" sz="3600" dirty="0"/>
          </a:p>
        </p:txBody>
      </p:sp>
      <p:sp>
        <p:nvSpPr>
          <p:cNvPr id="21" name="Text 16"/>
          <p:cNvSpPr/>
          <p:nvPr/>
        </p:nvSpPr>
        <p:spPr>
          <a:xfrm>
            <a:off x="2011680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3383280" y="28803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i="1" dirty="0">
                <a:solidFill>
                  <a:srgbClr val="F4A9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3600" dirty="0"/>
          </a:p>
        </p:txBody>
      </p:sp>
      <p:sp>
        <p:nvSpPr>
          <p:cNvPr id="23" name="Text 18"/>
          <p:cNvSpPr/>
          <p:nvPr/>
        </p:nvSpPr>
        <p:spPr>
          <a:xfrm>
            <a:off x="3383280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40080" y="4069080"/>
            <a:ext cx="914400" cy="27432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40080" y="4206240"/>
            <a:ext cx="5339791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frame of the source video passes through the full pipeline. The Starry Night palette and brushwork transfer onto every frame; temporal smoothing keeps motion coherent across playback.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02975" y="182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i="1" dirty="0">
                <a:solidFill>
                  <a:srgbClr val="2A34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weeks in.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6446520"/>
            <a:ext cx="10911535" cy="9144"/>
          </a:xfrm>
          <a:prstGeom prst="rect">
            <a:avLst/>
          </a:prstGeom>
          <a:solidFill>
            <a:srgbClr val="243054"/>
          </a:solidFill>
          <a:ln w="12700">
            <a:solidFill>
              <a:srgbClr val="24305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Style Transfer  ·  Progress Report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65215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Group  ·  Weeks 1 – 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3840480" cy="4434840"/>
          </a:xfrm>
          <a:prstGeom prst="rect">
            <a:avLst/>
          </a:prstGeom>
          <a:solidFill>
            <a:srgbClr val="1E2742"/>
          </a:solidFill>
          <a:ln w="9525">
            <a:solidFill>
              <a:srgbClr val="243054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783080"/>
            <a:ext cx="73152" cy="4434840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28600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2000" b="1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</a:t>
            </a:r>
            <a:r>
              <a:rPr lang="en-US" sz="6000" b="1" i="1" dirty="0">
                <a:solidFill>
                  <a:srgbClr val="F4A9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12000" dirty="0"/>
          </a:p>
        </p:txBody>
      </p:sp>
      <p:sp>
        <p:nvSpPr>
          <p:cNvPr id="13" name="Text 11"/>
          <p:cNvSpPr/>
          <p:nvPr/>
        </p:nvSpPr>
        <p:spPr>
          <a:xfrm>
            <a:off x="914400" y="4206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planned pipeline scope completed.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5029200"/>
            <a:ext cx="3383280" cy="201168"/>
          </a:xfrm>
          <a:prstGeom prst="rect">
            <a:avLst/>
          </a:prstGeom>
          <a:solidFill>
            <a:srgbClr val="0B0E1A"/>
          </a:solidFill>
          <a:ln w="6350">
            <a:solidFill>
              <a:srgbClr val="2430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029200"/>
            <a:ext cx="2368296" cy="201168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349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 – 2  ·  May 202</a:t>
            </a:r>
            <a:r>
              <a:rPr lang="tr-TR" sz="1000" i="1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828800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3492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Completed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4983480" y="2350008"/>
            <a:ext cx="146304" cy="146304"/>
          </a:xfrm>
          <a:prstGeom prst="ellipse">
            <a:avLst/>
          </a:prstGeom>
          <a:solidFill>
            <a:srgbClr val="7A9D7E"/>
          </a:solidFill>
          <a:ln w="12700">
            <a:solidFill>
              <a:srgbClr val="7A9D7E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57800" y="228600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I/O pipeline (read → process → write)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983480" y="2734056"/>
            <a:ext cx="146304" cy="146304"/>
          </a:xfrm>
          <a:prstGeom prst="ellipse">
            <a:avLst/>
          </a:prstGeom>
          <a:solidFill>
            <a:srgbClr val="7A9D7E"/>
          </a:solidFill>
          <a:ln w="12700">
            <a:solidFill>
              <a:srgbClr val="7A9D7E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57800" y="2670048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Per-frame stylization (3-pass classical method)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983480" y="3118104"/>
            <a:ext cx="146304" cy="146304"/>
          </a:xfrm>
          <a:prstGeom prst="ellipse">
            <a:avLst/>
          </a:prstGeom>
          <a:solidFill>
            <a:srgbClr val="7A9D7E"/>
          </a:solidFill>
          <a:ln w="12700">
            <a:solidFill>
              <a:srgbClr val="7A9D7E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257800" y="3054096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Optical-flow temporal smoother integrated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257800" y="3438144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4995359" y="3542597"/>
            <a:ext cx="146304" cy="146304"/>
          </a:xfrm>
          <a:prstGeom prst="ellipse">
            <a:avLst/>
          </a:prstGeom>
          <a:solidFill>
            <a:srgbClr val="7A9D7E"/>
          </a:solidFill>
          <a:ln w="12700">
            <a:solidFill>
              <a:srgbClr val="7A9D7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28" name="Text 25"/>
          <p:cNvSpPr/>
          <p:nvPr/>
        </p:nvSpPr>
        <p:spPr>
          <a:xfrm>
            <a:off x="5257800" y="3479292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Hotkeys: save, toggle temporal, tune style weight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4937760" y="4343400"/>
            <a:ext cx="6675120" cy="9144"/>
          </a:xfrm>
          <a:prstGeom prst="rect">
            <a:avLst/>
          </a:prstGeom>
          <a:solidFill>
            <a:srgbClr val="243054"/>
          </a:solidFill>
          <a:ln w="12700">
            <a:solidFill>
              <a:srgbClr val="243054">
                <a:alpha val="0"/>
              </a:srgbClr>
            </a:solidFill>
            <a:prstDash val="solid"/>
          </a:ln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4617720"/>
            <a:ext cx="292608" cy="29260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34924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9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progress</a:t>
            </a:r>
            <a:endParaRPr lang="en-US" sz="2000" dirty="0"/>
          </a:p>
        </p:txBody>
      </p:sp>
      <p:sp>
        <p:nvSpPr>
          <p:cNvPr id="32" name="Shape 28"/>
          <p:cNvSpPr/>
          <p:nvPr/>
        </p:nvSpPr>
        <p:spPr>
          <a:xfrm>
            <a:off x="4983480" y="5138928"/>
            <a:ext cx="146304" cy="146304"/>
          </a:xfrm>
          <a:prstGeom prst="ellipse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257800" y="507492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quality refinement (painterly artifacts)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4983480" y="5522976"/>
            <a:ext cx="146304" cy="146304"/>
          </a:xfrm>
          <a:prstGeom prst="ellipse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257800" y="5458968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optimization for HD video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4983480" y="5907024"/>
            <a:ext cx="146304" cy="146304"/>
          </a:xfrm>
          <a:prstGeom prst="ellipse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257800" y="5843016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on varied content (motion, lighting)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02975" y="182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i="1" dirty="0">
                <a:solidFill>
                  <a:srgbClr val="2A34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PROBLEMS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still needs solving.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6446520"/>
            <a:ext cx="10911535" cy="9144"/>
          </a:xfrm>
          <a:prstGeom prst="rect">
            <a:avLst/>
          </a:prstGeom>
          <a:solidFill>
            <a:srgbClr val="243054"/>
          </a:solidFill>
          <a:ln w="12700">
            <a:solidFill>
              <a:srgbClr val="24305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Style Transfer  ·  Progress Report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65215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Group  ·  Weeks 1 –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list — these are the four issues we'd flag in code review right now.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5577840" cy="1783080"/>
          </a:xfrm>
          <a:prstGeom prst="rect">
            <a:avLst/>
          </a:prstGeom>
          <a:solidFill>
            <a:srgbClr val="1E2742"/>
          </a:solidFill>
          <a:ln w="9525">
            <a:solidFill>
              <a:srgbClr val="243054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468880"/>
            <a:ext cx="73152" cy="1783080"/>
          </a:xfrm>
          <a:prstGeom prst="rect">
            <a:avLst/>
          </a:prstGeom>
          <a:solidFill>
            <a:srgbClr val="C75B3C"/>
          </a:solidFill>
          <a:ln w="12700">
            <a:solidFill>
              <a:srgbClr val="C75B3C">
                <a:alpha val="0"/>
              </a:srgbClr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43200"/>
            <a:ext cx="457200" cy="4572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166360" y="2743200"/>
            <a:ext cx="777240" cy="274320"/>
          </a:xfrm>
          <a:prstGeom prst="rect">
            <a:avLst/>
          </a:prstGeom>
          <a:solidFill>
            <a:srgbClr val="0B0E1A"/>
          </a:solidFill>
          <a:ln w="9525">
            <a:solidFill>
              <a:srgbClr val="C75B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66360" y="27432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C7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508760" y="2697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Painterly artifacts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914400" y="33375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thresholding in the painterly pass produces hard black contours that fragment the output. Looks more like a comic panel than an oil painting on busy frames.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0" y="2468880"/>
            <a:ext cx="5577840" cy="1783080"/>
          </a:xfrm>
          <a:prstGeom prst="rect">
            <a:avLst/>
          </a:prstGeom>
          <a:solidFill>
            <a:srgbClr val="1E2742"/>
          </a:solidFill>
          <a:ln w="9525">
            <a:solidFill>
              <a:srgbClr val="243054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00800" y="2468880"/>
            <a:ext cx="73152" cy="1783080"/>
          </a:xfrm>
          <a:prstGeom prst="rect">
            <a:avLst/>
          </a:prstGeom>
          <a:solidFill>
            <a:srgbClr val="C75B3C"/>
          </a:solidFill>
          <a:ln w="12700">
            <a:solidFill>
              <a:srgbClr val="C75B3C">
                <a:alpha val="0"/>
              </a:srgbClr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743200"/>
            <a:ext cx="457200" cy="45720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10927080" y="2743200"/>
            <a:ext cx="777240" cy="274320"/>
          </a:xfrm>
          <a:prstGeom prst="rect">
            <a:avLst/>
          </a:prstGeom>
          <a:solidFill>
            <a:srgbClr val="0B0E1A"/>
          </a:solidFill>
          <a:ln w="9525">
            <a:solidFill>
              <a:srgbClr val="C75B3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0927080" y="27432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C7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7269480" y="2697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Detail loss</a:t>
            </a:r>
            <a:endParaRPr lang="en-US" sz="1900" dirty="0"/>
          </a:p>
        </p:txBody>
      </p:sp>
      <p:sp>
        <p:nvSpPr>
          <p:cNvPr id="23" name="Text 19"/>
          <p:cNvSpPr/>
          <p:nvPr/>
        </p:nvSpPr>
        <p:spPr>
          <a:xfrm>
            <a:off x="6675120" y="33375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filtering flattens fine texture — faces lose subtle features. Need to tune sigmaColor/sigmaSpace or skip the painterly pass on close-ups.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40080" y="4434840"/>
            <a:ext cx="5577840" cy="1783080"/>
          </a:xfrm>
          <a:prstGeom prst="rect">
            <a:avLst/>
          </a:prstGeom>
          <a:solidFill>
            <a:srgbClr val="1E2742"/>
          </a:solidFill>
          <a:ln w="9525">
            <a:solidFill>
              <a:srgbClr val="243054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40080" y="4434840"/>
            <a:ext cx="73152" cy="1783080"/>
          </a:xfrm>
          <a:prstGeom prst="rect">
            <a:avLst/>
          </a:prstGeom>
          <a:solidFill>
            <a:srgbClr val="C75B3C"/>
          </a:solidFill>
          <a:ln w="12700">
            <a:solidFill>
              <a:srgbClr val="C75B3C">
                <a:alpha val="0"/>
              </a:srgbClr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709160"/>
            <a:ext cx="457200" cy="45720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5166360" y="4709160"/>
            <a:ext cx="777240" cy="274320"/>
          </a:xfrm>
          <a:prstGeom prst="rect">
            <a:avLst/>
          </a:prstGeom>
          <a:solidFill>
            <a:srgbClr val="0B0E1A"/>
          </a:solidFill>
          <a:ln w="9525">
            <a:solidFill>
              <a:srgbClr val="C75B3C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166360" y="47091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C7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1508760" y="4663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Fast-motion flicker</a:t>
            </a:r>
            <a:endParaRPr lang="en-US" sz="1900" dirty="0"/>
          </a:p>
        </p:txBody>
      </p:sp>
      <p:sp>
        <p:nvSpPr>
          <p:cNvPr id="30" name="Text 25"/>
          <p:cNvSpPr/>
          <p:nvPr/>
        </p:nvSpPr>
        <p:spPr>
          <a:xfrm>
            <a:off x="914400" y="53035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Farneback optical flow degrades on rapid movement and large displacements. Flicker still visible in clips with quick camera pans.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6400800" y="4434840"/>
            <a:ext cx="5577840" cy="1783080"/>
          </a:xfrm>
          <a:prstGeom prst="rect">
            <a:avLst/>
          </a:prstGeom>
          <a:solidFill>
            <a:srgbClr val="1E2742"/>
          </a:solidFill>
          <a:ln w="9525">
            <a:solidFill>
              <a:srgbClr val="243054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6400800" y="4434840"/>
            <a:ext cx="73152" cy="1783080"/>
          </a:xfrm>
          <a:prstGeom prst="rect">
            <a:avLst/>
          </a:prstGeom>
          <a:solidFill>
            <a:srgbClr val="C75B3C"/>
          </a:solidFill>
          <a:ln w="12700">
            <a:solidFill>
              <a:srgbClr val="C75B3C">
                <a:alpha val="0"/>
              </a:srgbClr>
            </a:solidFill>
            <a:prstDash val="solid"/>
          </a:ln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4709160"/>
            <a:ext cx="457200" cy="457200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10927080" y="4709160"/>
            <a:ext cx="777240" cy="274320"/>
          </a:xfrm>
          <a:prstGeom prst="rect">
            <a:avLst/>
          </a:prstGeom>
          <a:solidFill>
            <a:srgbClr val="0B0E1A"/>
          </a:solidFill>
          <a:ln w="9525">
            <a:solidFill>
              <a:srgbClr val="C75B3C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10927080" y="47091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C75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7269480" y="4663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HD throughput</a:t>
            </a:r>
            <a:endParaRPr lang="en-US" sz="1900" dirty="0"/>
          </a:p>
        </p:txBody>
      </p:sp>
      <p:sp>
        <p:nvSpPr>
          <p:cNvPr id="37" name="Text 31"/>
          <p:cNvSpPr/>
          <p:nvPr/>
        </p:nvSpPr>
        <p:spPr>
          <a:xfrm>
            <a:off x="6675120" y="53035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downsamples to 256×256 internally for speed. Full HD frames need batched processing or GPU acceleration to hit real-time.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A938"/>
          </a:solidFill>
          <a:ln w="12700">
            <a:solidFill>
              <a:srgbClr val="F4A93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02975" y="182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i="1" dirty="0">
                <a:solidFill>
                  <a:srgbClr val="2A34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path forward.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6446520"/>
            <a:ext cx="10911535" cy="9144"/>
          </a:xfrm>
          <a:prstGeom prst="rect">
            <a:avLst/>
          </a:prstGeom>
          <a:solidFill>
            <a:srgbClr val="243054"/>
          </a:solidFill>
          <a:ln w="12700">
            <a:solidFill>
              <a:srgbClr val="24305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Style Transfer  ·  Progress Report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65215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Group  ·  Weeks 1 –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weeks. Three milestones.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194560" y="3657600"/>
            <a:ext cx="7802575" cy="18288"/>
          </a:xfrm>
          <a:prstGeom prst="rect">
            <a:avLst/>
          </a:prstGeom>
          <a:solidFill>
            <a:srgbClr val="243054"/>
          </a:solidFill>
          <a:ln w="12700">
            <a:solidFill>
              <a:srgbClr val="24305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3538728"/>
            <a:ext cx="274320" cy="274320"/>
          </a:xfrm>
          <a:prstGeom prst="ellipse">
            <a:avLst/>
          </a:prstGeom>
          <a:solidFill>
            <a:srgbClr val="F4A938"/>
          </a:solidFill>
          <a:ln w="38100">
            <a:solidFill>
              <a:srgbClr val="0B0E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4023360"/>
            <a:ext cx="3383280" cy="2286000"/>
          </a:xfrm>
          <a:prstGeom prst="rect">
            <a:avLst/>
          </a:prstGeom>
          <a:solidFill>
            <a:srgbClr val="1E2742"/>
          </a:solidFill>
          <a:ln w="9525">
            <a:solidFill>
              <a:srgbClr val="243054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4206240"/>
            <a:ext cx="320040" cy="3200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14400" y="4480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refinement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14400" y="489204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Soften painterly contours</a:t>
            </a:r>
            <a:endParaRPr lang="en-US" sz="11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bilateral filter params</a:t>
            </a:r>
            <a:endParaRPr lang="en-US" sz="11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alternative style images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958688" y="3538728"/>
            <a:ext cx="274320" cy="274320"/>
          </a:xfrm>
          <a:prstGeom prst="ellipse">
            <a:avLst/>
          </a:prstGeom>
          <a:solidFill>
            <a:srgbClr val="F4A938"/>
          </a:solidFill>
          <a:ln w="38100">
            <a:solidFill>
              <a:srgbClr val="0B0E1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04208" y="4023360"/>
            <a:ext cx="3383280" cy="2286000"/>
          </a:xfrm>
          <a:prstGeom prst="rect">
            <a:avLst/>
          </a:prstGeom>
          <a:solidFill>
            <a:srgbClr val="1E2742"/>
          </a:solidFill>
          <a:ln w="9525">
            <a:solidFill>
              <a:srgbClr val="243054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678528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7408" y="4206240"/>
            <a:ext cx="320040" cy="3200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678528" y="4480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temporal stability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4678528" y="489204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DIS / RAFT optical flow</a:t>
            </a:r>
            <a:endParaRPr lang="en-US" sz="11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α per motion magnitude</a:t>
            </a:r>
            <a:endParaRPr lang="en-US" sz="11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temporal loss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9859975" y="3538728"/>
            <a:ext cx="274320" cy="274320"/>
          </a:xfrm>
          <a:prstGeom prst="ellipse">
            <a:avLst/>
          </a:prstGeom>
          <a:solidFill>
            <a:srgbClr val="F4A938"/>
          </a:solidFill>
          <a:ln w="38100">
            <a:solidFill>
              <a:srgbClr val="0B0E1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168335" y="4023360"/>
            <a:ext cx="3383280" cy="2286000"/>
          </a:xfrm>
          <a:prstGeom prst="rect">
            <a:avLst/>
          </a:prstGeom>
          <a:solidFill>
            <a:srgbClr val="1E2742"/>
          </a:solidFill>
          <a:ln w="9525">
            <a:solidFill>
              <a:srgbClr val="243054"/>
            </a:solidFill>
            <a:prstDash val="solid"/>
          </a:ln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8442655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1535" y="4206240"/>
            <a:ext cx="320040" cy="3200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442655" y="4480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E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&amp; deployment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8442655" y="489204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GPU pipeline</a:t>
            </a:r>
            <a:endParaRPr lang="en-US" sz="11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webcam at 720p</a:t>
            </a:r>
            <a:endParaRPr lang="en-US" sz="11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8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VGG-based path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64008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9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shipped (weeks 1–2)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10088575" y="3291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4A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 →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970</Words>
  <Application>Microsoft Office PowerPoint</Application>
  <PresentationFormat>Geniş ekran</PresentationFormat>
  <Paragraphs>164</Paragraphs>
  <Slides>9</Slides>
  <Notes>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Georgia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Style Transfer — Progress</dc:title>
  <dc:subject>PptxGenJS Presentation</dc:subject>
  <dc:creator>Internship Group</dc:creator>
  <cp:lastModifiedBy>Taha Gümüş</cp:lastModifiedBy>
  <cp:revision>11</cp:revision>
  <dcterms:created xsi:type="dcterms:W3CDTF">2026-05-22T08:14:16Z</dcterms:created>
  <dcterms:modified xsi:type="dcterms:W3CDTF">2026-05-22T10:30:21Z</dcterms:modified>
</cp:coreProperties>
</file>